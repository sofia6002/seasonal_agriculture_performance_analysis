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9" r:id="rId11"/>
    <p:sldId id="340" r:id="rId12"/>
    <p:sldId id="348" r:id="rId13"/>
    <p:sldId id="347"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44"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79" d="100"/>
          <a:sy n="79" d="100"/>
        </p:scale>
        <p:origin x="187" y="67"/>
      </p:cViewPr>
      <p:guideLst>
        <p:guide orient="horz" pos="1944"/>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14-09-2026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14-09-2026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14-09-2026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14-09-2026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14-09-2026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14-09-2026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14-09-2026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14-09-2026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14-09-2026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14-09-2026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14-09-2026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14-09-2026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14-09-2026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14-09-2026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14-09-2026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14-09-2026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14-09-2026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14-09-2026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14-09-2026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14-09-2026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ofia6002/Seasonal_Agriculture_Performance_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904F3B8-A520-7AEC-41A7-CB2A17B201D4}"/>
              </a:ext>
            </a:extLst>
          </p:cNvPr>
          <p:cNvSpPr/>
          <p:nvPr/>
        </p:nvSpPr>
        <p:spPr>
          <a:xfrm>
            <a:off x="2854033" y="4993370"/>
            <a:ext cx="3176362" cy="136313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5049210"/>
            <a:ext cx="7182757" cy="1597703"/>
          </a:xfrm>
        </p:spPr>
        <p:txBody>
          <a:bodyPr vert="horz" lIns="91440" tIns="45720" rIns="91440" bIns="45720" rtlCol="0" anchor="t">
            <a:normAutofit/>
          </a:bodyPr>
          <a:lstStyle/>
          <a:p>
            <a:r>
              <a:rPr lang="en-US" sz="2400" b="0" dirty="0">
                <a:solidFill>
                  <a:schemeClr val="tx1"/>
                </a:solidFill>
                <a:latin typeface="Calibri" panose="020F0502020204030204" pitchFamily="34" charset="0"/>
                <a:ea typeface="Calibri" panose="020F0502020204030204" pitchFamily="34" charset="0"/>
                <a:cs typeface="Calibri" panose="020F0502020204030204" pitchFamily="34" charset="0"/>
              </a:rPr>
              <a:t>SOFIA TM</a:t>
            </a:r>
            <a:endParaRPr lang="en-IN" sz="2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r>
              <a:rPr lang="en-US" sz="2400" b="0" dirty="0">
                <a:solidFill>
                  <a:schemeClr val="tx1"/>
                </a:solidFill>
                <a:latin typeface="Calibri" panose="020F0502020204030204" pitchFamily="34" charset="0"/>
                <a:ea typeface="Calibri" panose="020F0502020204030204" pitchFamily="34" charset="0"/>
                <a:cs typeface="Calibri" panose="020F0502020204030204" pitchFamily="34" charset="0"/>
              </a:rPr>
              <a:t>PSGR KRISHNAMMAL COLLEGE, COIMBATORE</a:t>
            </a:r>
            <a:endParaRPr lang="en-IN" sz="24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395306" y="2794001"/>
            <a:ext cx="8595360" cy="1782467"/>
          </a:xfrm>
        </p:spPr>
        <p:txBody>
          <a:bodyPr>
            <a:noAutofit/>
          </a:bodyPr>
          <a:lstStyle/>
          <a:p>
            <a:r>
              <a:rPr lang="en-GB" sz="3600" b="1" dirty="0">
                <a:latin typeface="Calibri" panose="020F0502020204030204" pitchFamily="34" charset="0"/>
                <a:ea typeface="Calibri" panose="020F0502020204030204" pitchFamily="34" charset="0"/>
                <a:cs typeface="Calibri" panose="020F0502020204030204" pitchFamily="34" charset="0"/>
              </a:rPr>
              <a:t>SEASONAL AGRICULTURE PERFORMANCE ANALYSIS</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3200"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47699" y="6241087"/>
            <a:ext cx="5513907" cy="400110"/>
          </a:xfrm>
          <a:prstGeom prst="rect">
            <a:avLst/>
          </a:prstGeom>
          <a:noFill/>
        </p:spPr>
        <p:txBody>
          <a:bodyPr wrap="squar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AICTE STU ID : </a:t>
            </a:r>
            <a:r>
              <a:rPr lang="en-US" dirty="0"/>
              <a:t>STU68654ca9d120f1751469225</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281324" y="2247900"/>
            <a:ext cx="9019823" cy="4319687"/>
          </a:xfrm>
        </p:spPr>
        <p:txBody>
          <a:bodyPr vert="horz" lIns="91440" tIns="45720" rIns="91440" bIns="45720" rtlCol="0" anchor="t">
            <a:normAutofit/>
          </a:bodyPr>
          <a:lstStyle/>
          <a:p>
            <a:r>
              <a:rPr lang="en-US"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p>
          <a:p>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9587417" y="-291677"/>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0" y="0"/>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C60DC2E8-8F5E-53C9-D4DB-6498C3DB1407}"/>
              </a:ext>
            </a:extLst>
          </p:cNvPr>
          <p:cNvSpPr txBox="1"/>
          <p:nvPr/>
        </p:nvSpPr>
        <p:spPr>
          <a:xfrm>
            <a:off x="306719" y="912722"/>
            <a:ext cx="10021077" cy="5083443"/>
          </a:xfrm>
          <a:prstGeom prst="rect">
            <a:avLst/>
          </a:prstGeom>
          <a:noFill/>
        </p:spPr>
        <p:txBody>
          <a:bodyPr wrap="square" rtlCol="0">
            <a:spAutoFit/>
          </a:bodyPr>
          <a:lstStyle/>
          <a:p>
            <a:pPr>
              <a:spcAft>
                <a:spcPts val="1000"/>
              </a:spcAft>
            </a:pPr>
            <a:br>
              <a:rPr lang="en-GB" dirty="0">
                <a:latin typeface="Calibri" panose="020F0502020204030204" pitchFamily="34" charset="0"/>
                <a:ea typeface="Calibri" panose="020F0502020204030204" pitchFamily="34" charset="0"/>
                <a:cs typeface="Calibri" panose="020F0502020204030204" pitchFamily="34" charset="0"/>
              </a:rPr>
            </a:br>
            <a:r>
              <a:rPr lang="en-GB" sz="3200" dirty="0">
                <a:latin typeface="Calibri" panose="020F0502020204030204" pitchFamily="34" charset="0"/>
                <a:ea typeface="Calibri" panose="020F0502020204030204" pitchFamily="34" charset="0"/>
                <a:cs typeface="Calibri" panose="020F0502020204030204" pitchFamily="34" charset="0"/>
              </a:rPr>
              <a:t>Data Analytics study of seasonal farm performance</a:t>
            </a:r>
          </a:p>
          <a:p>
            <a:pPr>
              <a:spcAft>
                <a:spcPts val="1000"/>
              </a:spcAft>
            </a:pPr>
            <a:endParaRPr lang="en-GB" dirty="0">
              <a:latin typeface="Calibri" panose="020F0502020204030204" pitchFamily="34" charset="0"/>
              <a:ea typeface="Calibri" panose="020F0502020204030204" pitchFamily="34" charset="0"/>
              <a:cs typeface="Calibri" panose="020F0502020204030204" pitchFamily="34" charset="0"/>
            </a:endParaRPr>
          </a:p>
          <a:p>
            <a:pPr>
              <a:spcAft>
                <a:spcPts val="1000"/>
              </a:spcAft>
            </a:pPr>
            <a:r>
              <a:rPr lang="en-US" dirty="0">
                <a:solidFill>
                  <a:srgbClr val="2A2A24"/>
                </a:solidFill>
                <a:latin typeface="Calibri" panose="020F0502020204030204" pitchFamily="34" charset="0"/>
                <a:ea typeface="Calibri" panose="020F0502020204030204" pitchFamily="34" charset="0"/>
                <a:cs typeface="Calibri" panose="020F0502020204030204" pitchFamily="34" charset="0"/>
              </a:rPr>
              <a:t>●  Analyzed 4,000 farm-level records across 3 seasons (Kharif, Rabi, Zaid), 8 states and 8 crops, covering environmental, operational, production and economic variables.</a:t>
            </a:r>
          </a:p>
          <a:p>
            <a:pPr>
              <a:spcAft>
                <a:spcPts val="1000"/>
              </a:spcAft>
            </a:pPr>
            <a:r>
              <a:rPr lang="en-US" dirty="0">
                <a:solidFill>
                  <a:srgbClr val="2A2A24"/>
                </a:solidFill>
                <a:latin typeface="Calibri" panose="020F0502020204030204" pitchFamily="34" charset="0"/>
                <a:ea typeface="Calibri" panose="020F0502020204030204" pitchFamily="34" charset="0"/>
                <a:cs typeface="Calibri" panose="020F0502020204030204" pitchFamily="34" charset="0"/>
              </a:rPr>
              <a:t>●  Performed full data cleaning: handled missing values (median imputation), checked for duplicates, and profiled outliers using the IQR method.</a:t>
            </a:r>
          </a:p>
          <a:p>
            <a:pPr>
              <a:spcAft>
                <a:spcPts val="1000"/>
              </a:spcAft>
            </a:pPr>
            <a:r>
              <a:rPr lang="en-US" dirty="0">
                <a:solidFill>
                  <a:srgbClr val="2A2A24"/>
                </a:solidFill>
                <a:latin typeface="Calibri" panose="020F0502020204030204" pitchFamily="34" charset="0"/>
                <a:ea typeface="Calibri" panose="020F0502020204030204" pitchFamily="34" charset="0"/>
                <a:cs typeface="Calibri" panose="020F0502020204030204" pitchFamily="34" charset="0"/>
              </a:rPr>
              <a:t>●  Carried out univariate, bivariate and multivariate analysis, a full correlation study, and a dedicated season-wise comparison of yield, profit and resource use.</a:t>
            </a:r>
          </a:p>
          <a:p>
            <a:pPr>
              <a:spcAft>
                <a:spcPts val="1000"/>
              </a:spcAft>
            </a:pPr>
            <a:r>
              <a:rPr lang="en-US" dirty="0">
                <a:solidFill>
                  <a:srgbClr val="2A2A24"/>
                </a:solidFill>
                <a:latin typeface="Calibri" panose="020F0502020204030204" pitchFamily="34" charset="0"/>
                <a:ea typeface="Calibri" panose="020F0502020204030204" pitchFamily="34" charset="0"/>
                <a:cs typeface="Calibri" panose="020F0502020204030204" pitchFamily="34" charset="0"/>
              </a:rPr>
              <a:t>●  Designed and ran 3 original analyses beyond the base template: regional profit-by-season patterns, the share of loss-making farms per season, and whether fertilizer use actually predicts yield.</a:t>
            </a:r>
          </a:p>
          <a:p>
            <a:pPr>
              <a:spcAft>
                <a:spcPts val="1000"/>
              </a:spcAft>
            </a:pPr>
            <a:r>
              <a:rPr lang="en-US" dirty="0">
                <a:solidFill>
                  <a:srgbClr val="2A2A24"/>
                </a:solidFill>
                <a:latin typeface="Calibri" panose="020F0502020204030204" pitchFamily="34" charset="0"/>
                <a:ea typeface="Calibri" panose="020F0502020204030204" pitchFamily="34" charset="0"/>
                <a:cs typeface="Calibri" panose="020F0502020204030204" pitchFamily="34" charset="0"/>
              </a:rPr>
              <a:t>●  Documented 8 evidence-based insights, 5 recommendations and clearly stated limitations, all traceable to specific computed results in the notebook.</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47500" lnSpcReduction="20000"/>
          </a:bodyPr>
          <a:lstStyle/>
          <a:p>
            <a:pPr algn="just">
              <a:lnSpc>
                <a:spcPct val="110000"/>
              </a:lnSpc>
              <a:spcAft>
                <a:spcPts val="1400"/>
              </a:spcAft>
            </a:pPr>
            <a:r>
              <a:rPr lang="en-US" sz="3600" b="1" dirty="0">
                <a:latin typeface="Calibri"/>
              </a:rPr>
              <a:t>Farmers &amp; farm managers — </a:t>
            </a:r>
            <a:r>
              <a:rPr lang="en-US" sz="3600" dirty="0">
                <a:latin typeface="Calibri"/>
              </a:rPr>
              <a:t>to understand which seasons and practices carry the most financial risk</a:t>
            </a:r>
            <a:endParaRPr lang="en-US" sz="6600" dirty="0"/>
          </a:p>
          <a:p>
            <a:pPr>
              <a:lnSpc>
                <a:spcPct val="110000"/>
              </a:lnSpc>
              <a:spcAft>
                <a:spcPts val="1400"/>
              </a:spcAft>
            </a:pPr>
            <a:r>
              <a:rPr lang="en-US" sz="3600" b="1" dirty="0">
                <a:latin typeface="Calibri"/>
              </a:rPr>
              <a:t>State agriculture departments — </a:t>
            </a:r>
            <a:r>
              <a:rPr lang="en-US" sz="3600" dirty="0">
                <a:latin typeface="Calibri"/>
              </a:rPr>
              <a:t>to target seasonal support and advisories by region rather than nationally</a:t>
            </a:r>
          </a:p>
          <a:p>
            <a:pPr>
              <a:lnSpc>
                <a:spcPct val="110000"/>
              </a:lnSpc>
              <a:spcAft>
                <a:spcPts val="1400"/>
              </a:spcAft>
            </a:pPr>
            <a:r>
              <a:rPr lang="en-US" sz="3600" b="1" dirty="0">
                <a:latin typeface="Calibri"/>
              </a:rPr>
              <a:t>Agricultural policy planners — </a:t>
            </a:r>
            <a:r>
              <a:rPr lang="en-US" sz="3600" dirty="0">
                <a:latin typeface="Calibri"/>
              </a:rPr>
              <a:t>to base seasonal planning and subsidy decisions on evidence, not assumption</a:t>
            </a:r>
          </a:p>
          <a:p>
            <a:pPr>
              <a:lnSpc>
                <a:spcPct val="110000"/>
              </a:lnSpc>
              <a:spcAft>
                <a:spcPts val="1400"/>
              </a:spcAft>
            </a:pPr>
            <a:r>
              <a:rPr lang="en-US" sz="3600" b="1" dirty="0">
                <a:latin typeface="Calibri"/>
              </a:rPr>
              <a:t>Agri-lenders &amp; crop insurers — </a:t>
            </a:r>
            <a:r>
              <a:rPr lang="en-US" sz="3600" dirty="0">
                <a:latin typeface="Calibri"/>
              </a:rPr>
              <a:t>to price risk with a realistic view of how common losses are, even in good seasons</a:t>
            </a:r>
          </a:p>
          <a:p>
            <a:pPr>
              <a:lnSpc>
                <a:spcPct val="110000"/>
              </a:lnSpc>
              <a:spcAft>
                <a:spcPts val="1400"/>
              </a:spcAft>
            </a:pPr>
            <a:r>
              <a:rPr lang="en-US" sz="3600" b="1" dirty="0">
                <a:latin typeface="Calibri"/>
              </a:rPr>
              <a:t>Researchers &amp; students — </a:t>
            </a:r>
            <a:r>
              <a:rPr lang="en-US" sz="3600" dirty="0">
                <a:latin typeface="Calibri"/>
              </a:rPr>
              <a:t>as a worked example of season-wise agricultural data analysis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0" y="3696529"/>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582149" y="1962496"/>
            <a:ext cx="9027702" cy="5243448"/>
          </a:xfrm>
        </p:spPr>
        <p:txBody>
          <a:bodyPr>
            <a:noAutofit/>
          </a:bodyPr>
          <a:lstStyle/>
          <a:p>
            <a:pPr>
              <a:lnSpc>
                <a:spcPct val="105000"/>
              </a:lnSpc>
              <a:spcAft>
                <a:spcPts val="1200"/>
              </a:spcAft>
            </a:pPr>
            <a:r>
              <a:rPr lang="en-US" sz="2400" b="1" dirty="0">
                <a:solidFill>
                  <a:schemeClr val="tx1"/>
                </a:solidFill>
                <a:latin typeface="Calibri"/>
              </a:rPr>
              <a:t>Pandas &amp; NumPy — </a:t>
            </a:r>
            <a:r>
              <a:rPr lang="en-US" sz="2400" dirty="0">
                <a:solidFill>
                  <a:schemeClr val="tx1"/>
                </a:solidFill>
                <a:latin typeface="Calibri"/>
              </a:rPr>
              <a:t>data loading, cleaning, transformation</a:t>
            </a:r>
          </a:p>
          <a:p>
            <a:pPr>
              <a:lnSpc>
                <a:spcPct val="105000"/>
              </a:lnSpc>
              <a:spcAft>
                <a:spcPts val="1200"/>
              </a:spcAft>
            </a:pPr>
            <a:r>
              <a:rPr lang="en-US" sz="2400" b="1" dirty="0">
                <a:solidFill>
                  <a:schemeClr val="tx1"/>
                </a:solidFill>
                <a:latin typeface="Calibri"/>
              </a:rPr>
              <a:t>Python — </a:t>
            </a:r>
            <a:r>
              <a:rPr lang="en-US" sz="2400" dirty="0">
                <a:solidFill>
                  <a:schemeClr val="tx1"/>
                </a:solidFill>
                <a:latin typeface="Calibri"/>
              </a:rPr>
              <a:t>core language for the analysis</a:t>
            </a:r>
          </a:p>
          <a:p>
            <a:pPr>
              <a:lnSpc>
                <a:spcPct val="105000"/>
              </a:lnSpc>
              <a:spcAft>
                <a:spcPts val="1200"/>
              </a:spcAft>
            </a:pPr>
            <a:r>
              <a:rPr lang="en-US" sz="2400" b="1" dirty="0">
                <a:solidFill>
                  <a:schemeClr val="tx1"/>
                </a:solidFill>
                <a:latin typeface="Calibri"/>
              </a:rPr>
              <a:t>Matplotlib &amp; Seaborn — </a:t>
            </a:r>
            <a:r>
              <a:rPr lang="en-US" sz="2400" dirty="0">
                <a:solidFill>
                  <a:schemeClr val="tx1"/>
                </a:solidFill>
                <a:latin typeface="Calibri"/>
              </a:rPr>
              <a:t>all charts and the correlation heatmap</a:t>
            </a:r>
          </a:p>
          <a:p>
            <a:pPr>
              <a:lnSpc>
                <a:spcPct val="105000"/>
              </a:lnSpc>
              <a:spcAft>
                <a:spcPts val="1200"/>
              </a:spcAft>
            </a:pPr>
            <a:r>
              <a:rPr lang="en-US" sz="2400" b="1" dirty="0">
                <a:solidFill>
                  <a:schemeClr val="tx1"/>
                </a:solidFill>
                <a:latin typeface="Calibri"/>
              </a:rPr>
              <a:t>Jupyter Notebook — </a:t>
            </a:r>
            <a:r>
              <a:rPr lang="en-US" sz="2400" dirty="0">
                <a:solidFill>
                  <a:schemeClr val="tx1"/>
                </a:solidFill>
                <a:latin typeface="Calibri"/>
              </a:rPr>
              <a:t>the analysis environment &amp; deliverable</a:t>
            </a:r>
          </a:p>
          <a:p>
            <a:pPr>
              <a:lnSpc>
                <a:spcPct val="105000"/>
              </a:lnSpc>
              <a:spcAft>
                <a:spcPts val="1200"/>
              </a:spcAft>
            </a:pPr>
            <a:r>
              <a:rPr lang="en-US" sz="2400" b="1" dirty="0">
                <a:solidFill>
                  <a:schemeClr val="tx1"/>
                </a:solidFill>
                <a:latin typeface="Calibri"/>
              </a:rPr>
              <a:t>Statistical methods — </a:t>
            </a:r>
            <a:r>
              <a:rPr lang="en-US" sz="2400" dirty="0">
                <a:solidFill>
                  <a:schemeClr val="tx1"/>
                </a:solidFill>
                <a:latin typeface="Calibri"/>
              </a:rPr>
              <a:t>IQR outliers, </a:t>
            </a:r>
            <a:r>
              <a:rPr lang="en-US" sz="2400" dirty="0" err="1">
                <a:solidFill>
                  <a:schemeClr val="tx1"/>
                </a:solidFill>
                <a:latin typeface="Calibri"/>
              </a:rPr>
              <a:t>groupby</a:t>
            </a:r>
            <a:r>
              <a:rPr lang="en-US" sz="2400" dirty="0">
                <a:solidFill>
                  <a:schemeClr val="tx1"/>
                </a:solidFill>
                <a:latin typeface="Calibri"/>
              </a:rPr>
              <a:t>, Pearson correlation</a:t>
            </a:r>
          </a:p>
          <a:p>
            <a:pPr lvl="1">
              <a:lnSpc>
                <a:spcPct val="150000"/>
              </a:lnSpc>
            </a:pPr>
            <a:endParaRPr lang="en-IN" sz="3600"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863600" y="492912"/>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0" y="14652"/>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5281887" y="191390"/>
            <a:ext cx="4275138" cy="477520"/>
          </a:xfrm>
        </p:spPr>
        <p:txBody>
          <a:bodyPr vert="horz" lIns="91440" tIns="45720" rIns="91440" bIns="45720" rtlCol="0" anchor="t">
            <a:normAutofit fontScale="70000" lnSpcReduction="20000"/>
          </a:bodyPr>
          <a:lstStyle/>
          <a:p>
            <a:pPr marL="0" indent="0">
              <a:buNone/>
            </a:pPr>
            <a:r>
              <a:rPr lang="en-US" b="1" dirty="0"/>
              <a:t>Dataset structure: shape, columns and data types</a:t>
            </a:r>
            <a:endParaRPr lang="en-IN" dirty="0"/>
          </a:p>
        </p:txBody>
      </p:sp>
      <p:pic>
        <p:nvPicPr>
          <p:cNvPr id="3" name="Picture 2">
            <a:extLst>
              <a:ext uri="{FF2B5EF4-FFF2-40B4-BE49-F238E27FC236}">
                <a16:creationId xmlns:a16="http://schemas.microsoft.com/office/drawing/2014/main" id="{79A0E992-067C-E633-7FA8-6E6EDB58048C}"/>
              </a:ext>
            </a:extLst>
          </p:cNvPr>
          <p:cNvPicPr>
            <a:picLocks noChangeAspect="1"/>
          </p:cNvPicPr>
          <p:nvPr/>
        </p:nvPicPr>
        <p:blipFill>
          <a:blip r:embed="rId3"/>
          <a:stretch>
            <a:fillRect/>
          </a:stretch>
        </p:blipFill>
        <p:spPr>
          <a:xfrm>
            <a:off x="74870" y="845649"/>
            <a:ext cx="6578849" cy="3113430"/>
          </a:xfrm>
          <a:prstGeom prst="rect">
            <a:avLst/>
          </a:prstGeom>
        </p:spPr>
      </p:pic>
      <p:pic>
        <p:nvPicPr>
          <p:cNvPr id="9" name="Picture 8">
            <a:extLst>
              <a:ext uri="{FF2B5EF4-FFF2-40B4-BE49-F238E27FC236}">
                <a16:creationId xmlns:a16="http://schemas.microsoft.com/office/drawing/2014/main" id="{D9ED5020-16B9-7E7D-DF83-7B5EBED0788E}"/>
              </a:ext>
            </a:extLst>
          </p:cNvPr>
          <p:cNvPicPr>
            <a:picLocks noChangeAspect="1"/>
          </p:cNvPicPr>
          <p:nvPr/>
        </p:nvPicPr>
        <p:blipFill>
          <a:blip r:embed="rId4"/>
          <a:stretch>
            <a:fillRect/>
          </a:stretch>
        </p:blipFill>
        <p:spPr>
          <a:xfrm>
            <a:off x="6728589" y="1675976"/>
            <a:ext cx="3375953" cy="4892464"/>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F377-0D0E-2CAC-D815-3822920E227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A146E70-5426-94F2-9533-0E867E61A6D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43F0C84-1CE8-FE28-7000-E0DCABD6A54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69E295AD-20C2-F71C-1A47-4647431C261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E12A253-BACE-E056-46C0-58462510301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76DEC077-A444-DA05-0A56-A76737C44359}"/>
              </a:ext>
            </a:extLst>
          </p:cNvPr>
          <p:cNvSpPr>
            <a:spLocks noGrp="1"/>
          </p:cNvSpPr>
          <p:nvPr>
            <p:ph type="body" sz="quarter" idx="12"/>
          </p:nvPr>
        </p:nvSpPr>
        <p:spPr>
          <a:xfrm>
            <a:off x="4445309" y="370589"/>
            <a:ext cx="4275138" cy="477520"/>
          </a:xfrm>
        </p:spPr>
        <p:txBody>
          <a:bodyPr>
            <a:normAutofit fontScale="70000" lnSpcReduction="20000"/>
          </a:bodyPr>
          <a:lstStyle/>
          <a:p>
            <a:pPr marL="0" indent="0">
              <a:buNone/>
            </a:pPr>
            <a:r>
              <a:rPr lang="en-US" b="1" dirty="0"/>
              <a:t>Data quality: missing values and IQR-based outliers</a:t>
            </a:r>
            <a:endParaRPr lang="en-IN" dirty="0"/>
          </a:p>
        </p:txBody>
      </p:sp>
      <p:pic>
        <p:nvPicPr>
          <p:cNvPr id="3" name="Picture 2">
            <a:extLst>
              <a:ext uri="{FF2B5EF4-FFF2-40B4-BE49-F238E27FC236}">
                <a16:creationId xmlns:a16="http://schemas.microsoft.com/office/drawing/2014/main" id="{3CDC3CFF-32A7-71C0-4496-34F1C84026CC}"/>
              </a:ext>
            </a:extLst>
          </p:cNvPr>
          <p:cNvPicPr>
            <a:picLocks noChangeAspect="1"/>
          </p:cNvPicPr>
          <p:nvPr/>
        </p:nvPicPr>
        <p:blipFill>
          <a:blip r:embed="rId3"/>
          <a:stretch>
            <a:fillRect/>
          </a:stretch>
        </p:blipFill>
        <p:spPr>
          <a:xfrm>
            <a:off x="933854" y="1266319"/>
            <a:ext cx="4910133" cy="5398641"/>
          </a:xfrm>
          <a:prstGeom prst="rect">
            <a:avLst/>
          </a:prstGeom>
        </p:spPr>
      </p:pic>
      <p:pic>
        <p:nvPicPr>
          <p:cNvPr id="9" name="Picture 8">
            <a:extLst>
              <a:ext uri="{FF2B5EF4-FFF2-40B4-BE49-F238E27FC236}">
                <a16:creationId xmlns:a16="http://schemas.microsoft.com/office/drawing/2014/main" id="{366F0F9E-65B9-B6AD-4F65-4C3B58485339}"/>
              </a:ext>
            </a:extLst>
          </p:cNvPr>
          <p:cNvPicPr>
            <a:picLocks noChangeAspect="1"/>
          </p:cNvPicPr>
          <p:nvPr/>
        </p:nvPicPr>
        <p:blipFill>
          <a:blip r:embed="rId4"/>
          <a:stretch>
            <a:fillRect/>
          </a:stretch>
        </p:blipFill>
        <p:spPr>
          <a:xfrm>
            <a:off x="6232837" y="1165674"/>
            <a:ext cx="4275138" cy="5599930"/>
          </a:xfrm>
          <a:prstGeom prst="rect">
            <a:avLst/>
          </a:prstGeom>
        </p:spPr>
      </p:pic>
    </p:spTree>
    <p:extLst>
      <p:ext uri="{BB962C8B-B14F-4D97-AF65-F5344CB8AC3E}">
        <p14:creationId xmlns:p14="http://schemas.microsoft.com/office/powerpoint/2010/main" val="3929517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3958431" y="308567"/>
            <a:ext cx="4275138" cy="477520"/>
          </a:xfrm>
        </p:spPr>
        <p:txBody>
          <a:bodyPr>
            <a:normAutofit fontScale="70000" lnSpcReduction="20000"/>
          </a:bodyPr>
          <a:lstStyle/>
          <a:p>
            <a:pPr marL="0" indent="0">
              <a:buNone/>
            </a:pPr>
            <a:r>
              <a:rPr lang="en-US" b="1" dirty="0"/>
              <a:t>Seasonal comparison: average yield and profit</a:t>
            </a:r>
            <a:endParaRPr lang="en-IN" dirty="0"/>
          </a:p>
        </p:txBody>
      </p:sp>
      <p:pic>
        <p:nvPicPr>
          <p:cNvPr id="3" name="Picture 2">
            <a:extLst>
              <a:ext uri="{FF2B5EF4-FFF2-40B4-BE49-F238E27FC236}">
                <a16:creationId xmlns:a16="http://schemas.microsoft.com/office/drawing/2014/main" id="{A54E0032-C6BB-8D91-9451-FE68AFE58905}"/>
              </a:ext>
            </a:extLst>
          </p:cNvPr>
          <p:cNvPicPr>
            <a:picLocks noChangeAspect="1"/>
          </p:cNvPicPr>
          <p:nvPr/>
        </p:nvPicPr>
        <p:blipFill>
          <a:blip r:embed="rId3"/>
          <a:stretch>
            <a:fillRect/>
          </a:stretch>
        </p:blipFill>
        <p:spPr>
          <a:xfrm>
            <a:off x="425245" y="1813419"/>
            <a:ext cx="4691503" cy="3711189"/>
          </a:xfrm>
          <a:prstGeom prst="rect">
            <a:avLst/>
          </a:prstGeom>
        </p:spPr>
      </p:pic>
      <p:pic>
        <p:nvPicPr>
          <p:cNvPr id="9" name="Picture 8">
            <a:extLst>
              <a:ext uri="{FF2B5EF4-FFF2-40B4-BE49-F238E27FC236}">
                <a16:creationId xmlns:a16="http://schemas.microsoft.com/office/drawing/2014/main" id="{FABD537F-BF5A-DC56-B644-389801F4A11E}"/>
              </a:ext>
            </a:extLst>
          </p:cNvPr>
          <p:cNvPicPr>
            <a:picLocks noChangeAspect="1"/>
          </p:cNvPicPr>
          <p:nvPr/>
        </p:nvPicPr>
        <p:blipFill>
          <a:blip r:embed="rId4"/>
          <a:stretch>
            <a:fillRect/>
          </a:stretch>
        </p:blipFill>
        <p:spPr>
          <a:xfrm>
            <a:off x="5329369" y="2845427"/>
            <a:ext cx="5131540" cy="3861881"/>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BC847-2614-035C-00FA-C8433758E11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DEBC3C3-5786-5026-A6CA-829EBC3F82E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AC16F5C-0091-0268-CE49-F331D0D67F26}"/>
              </a:ext>
            </a:extLst>
          </p:cNvPr>
          <p:cNvSpPr>
            <a:spLocks noGrp="1"/>
          </p:cNvSpPr>
          <p:nvPr>
            <p:ph type="title"/>
          </p:nvPr>
        </p:nvSpPr>
        <p:spPr>
          <a:xfrm>
            <a:off x="501940" y="131828"/>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B439E2E-0714-3C08-A75E-6D25F556C6B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D569C28-845C-AA9A-9A30-7D9BC5FD180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7775BFAC-AC66-A286-EACC-D6FA1ADFB99C}"/>
              </a:ext>
            </a:extLst>
          </p:cNvPr>
          <p:cNvSpPr>
            <a:spLocks noGrp="1"/>
          </p:cNvSpPr>
          <p:nvPr>
            <p:ph type="body" sz="quarter" idx="12"/>
          </p:nvPr>
        </p:nvSpPr>
        <p:spPr>
          <a:xfrm>
            <a:off x="4805232" y="358769"/>
            <a:ext cx="4275138" cy="477520"/>
          </a:xfrm>
        </p:spPr>
        <p:txBody>
          <a:bodyPr>
            <a:normAutofit fontScale="70000" lnSpcReduction="20000"/>
          </a:bodyPr>
          <a:lstStyle/>
          <a:p>
            <a:pPr marL="0" indent="0">
              <a:buNone/>
            </a:pPr>
            <a:r>
              <a:rPr lang="en-US" b="1" dirty="0"/>
              <a:t>Correlation matrix and regional (state x season) profit</a:t>
            </a:r>
            <a:endParaRPr lang="en-IN" dirty="0"/>
          </a:p>
        </p:txBody>
      </p:sp>
      <p:pic>
        <p:nvPicPr>
          <p:cNvPr id="3" name="Picture 2">
            <a:extLst>
              <a:ext uri="{FF2B5EF4-FFF2-40B4-BE49-F238E27FC236}">
                <a16:creationId xmlns:a16="http://schemas.microsoft.com/office/drawing/2014/main" id="{D85114DD-049B-DED9-C08F-62EA2D2293DF}"/>
              </a:ext>
            </a:extLst>
          </p:cNvPr>
          <p:cNvPicPr>
            <a:picLocks noChangeAspect="1"/>
          </p:cNvPicPr>
          <p:nvPr/>
        </p:nvPicPr>
        <p:blipFill>
          <a:blip r:embed="rId3"/>
          <a:stretch>
            <a:fillRect/>
          </a:stretch>
        </p:blipFill>
        <p:spPr>
          <a:xfrm>
            <a:off x="501940" y="1275371"/>
            <a:ext cx="5696065" cy="5055992"/>
          </a:xfrm>
          <a:prstGeom prst="rect">
            <a:avLst/>
          </a:prstGeom>
        </p:spPr>
      </p:pic>
      <p:pic>
        <p:nvPicPr>
          <p:cNvPr id="9" name="Picture 8">
            <a:extLst>
              <a:ext uri="{FF2B5EF4-FFF2-40B4-BE49-F238E27FC236}">
                <a16:creationId xmlns:a16="http://schemas.microsoft.com/office/drawing/2014/main" id="{060EB3B7-DF62-C76F-D898-AE9C8E51959E}"/>
              </a:ext>
            </a:extLst>
          </p:cNvPr>
          <p:cNvPicPr>
            <a:picLocks noChangeAspect="1"/>
          </p:cNvPicPr>
          <p:nvPr/>
        </p:nvPicPr>
        <p:blipFill>
          <a:blip r:embed="rId4"/>
          <a:stretch>
            <a:fillRect/>
          </a:stretch>
        </p:blipFill>
        <p:spPr>
          <a:xfrm>
            <a:off x="6656638" y="2461099"/>
            <a:ext cx="5370203" cy="4203862"/>
          </a:xfrm>
          <a:prstGeom prst="rect">
            <a:avLst/>
          </a:prstGeom>
        </p:spPr>
      </p:pic>
    </p:spTree>
    <p:extLst>
      <p:ext uri="{BB962C8B-B14F-4D97-AF65-F5344CB8AC3E}">
        <p14:creationId xmlns:p14="http://schemas.microsoft.com/office/powerpoint/2010/main" val="1213525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01EB9-2398-759D-2F2F-26F4F08CAEE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AF03FC7-974B-E6E7-C3E6-489CA0518BD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2CA8FA5-7460-55BC-99CF-1492BF7F218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02E4F94B-FD03-F643-EFEB-70A57B40976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6245AD2-0F11-8242-99F8-5589CE19B60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5052439B-F9C4-AC84-9B13-A567D0ED409B}"/>
              </a:ext>
            </a:extLst>
          </p:cNvPr>
          <p:cNvSpPr>
            <a:spLocks noGrp="1"/>
          </p:cNvSpPr>
          <p:nvPr>
            <p:ph type="body" sz="quarter" idx="12"/>
          </p:nvPr>
        </p:nvSpPr>
        <p:spPr>
          <a:xfrm>
            <a:off x="3958431" y="561340"/>
            <a:ext cx="4275138" cy="477520"/>
          </a:xfrm>
        </p:spPr>
        <p:txBody>
          <a:bodyPr>
            <a:normAutofit/>
          </a:bodyPr>
          <a:lstStyle/>
          <a:p>
            <a:pPr marL="0" indent="0">
              <a:buNone/>
            </a:pPr>
            <a:r>
              <a:rPr lang="en-US" sz="1600" b="1" dirty="0"/>
              <a:t>Loss share and fertilizer vs yield</a:t>
            </a:r>
            <a:endParaRPr lang="en-IN" sz="1600" dirty="0"/>
          </a:p>
        </p:txBody>
      </p:sp>
      <p:pic>
        <p:nvPicPr>
          <p:cNvPr id="3" name="Picture 2">
            <a:extLst>
              <a:ext uri="{FF2B5EF4-FFF2-40B4-BE49-F238E27FC236}">
                <a16:creationId xmlns:a16="http://schemas.microsoft.com/office/drawing/2014/main" id="{545F4A06-1871-9636-E04C-7A0C569ED594}"/>
              </a:ext>
            </a:extLst>
          </p:cNvPr>
          <p:cNvPicPr>
            <a:picLocks noChangeAspect="1"/>
          </p:cNvPicPr>
          <p:nvPr/>
        </p:nvPicPr>
        <p:blipFill>
          <a:blip r:embed="rId3"/>
          <a:stretch>
            <a:fillRect/>
          </a:stretch>
        </p:blipFill>
        <p:spPr>
          <a:xfrm>
            <a:off x="5680359" y="2447032"/>
            <a:ext cx="4946000" cy="3916589"/>
          </a:xfrm>
          <a:prstGeom prst="rect">
            <a:avLst/>
          </a:prstGeom>
        </p:spPr>
      </p:pic>
      <p:pic>
        <p:nvPicPr>
          <p:cNvPr id="9" name="Picture 8">
            <a:extLst>
              <a:ext uri="{FF2B5EF4-FFF2-40B4-BE49-F238E27FC236}">
                <a16:creationId xmlns:a16="http://schemas.microsoft.com/office/drawing/2014/main" id="{EFB588BA-0812-EBED-9FA1-A263FAE93B2F}"/>
              </a:ext>
            </a:extLst>
          </p:cNvPr>
          <p:cNvPicPr>
            <a:picLocks noChangeAspect="1"/>
          </p:cNvPicPr>
          <p:nvPr/>
        </p:nvPicPr>
        <p:blipFill>
          <a:blip r:embed="rId4"/>
          <a:stretch>
            <a:fillRect/>
          </a:stretch>
        </p:blipFill>
        <p:spPr>
          <a:xfrm>
            <a:off x="270404" y="1127805"/>
            <a:ext cx="4589321" cy="3916589"/>
          </a:xfrm>
          <a:prstGeom prst="rect">
            <a:avLst/>
          </a:prstGeom>
        </p:spPr>
      </p:pic>
    </p:spTree>
    <p:extLst>
      <p:ext uri="{BB962C8B-B14F-4D97-AF65-F5344CB8AC3E}">
        <p14:creationId xmlns:p14="http://schemas.microsoft.com/office/powerpoint/2010/main" val="3681132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C35BD33E-BD22-6282-8B63-D3E1A646FC6D}"/>
              </a:ext>
            </a:extLst>
          </p:cNvPr>
          <p:cNvSpPr txBox="1"/>
          <p:nvPr/>
        </p:nvSpPr>
        <p:spPr>
          <a:xfrm>
            <a:off x="466928" y="2247900"/>
            <a:ext cx="9153728" cy="3811300"/>
          </a:xfrm>
          <a:prstGeom prst="rect">
            <a:avLst/>
          </a:prstGeom>
          <a:noFill/>
        </p:spPr>
        <p:txBody>
          <a:bodyPr wrap="square" rtlCol="0">
            <a:spAutoFit/>
          </a:bodyPr>
          <a:lstStyle/>
          <a:p>
            <a:pPr>
              <a:spcAft>
                <a:spcPts val="1000"/>
              </a:spcAft>
            </a:pPr>
            <a:r>
              <a:rPr lang="en-US" sz="2000" dirty="0">
                <a:solidFill>
                  <a:srgbClr val="2A2A24"/>
                </a:solidFill>
                <a:latin typeface="Calibri"/>
              </a:rPr>
              <a:t>●  Bring in multi-year data to separate genuine season effects from year-to-year weather variation.</a:t>
            </a:r>
          </a:p>
          <a:p>
            <a:pPr>
              <a:spcAft>
                <a:spcPts val="1000"/>
              </a:spcAft>
            </a:pPr>
            <a:r>
              <a:rPr lang="en-US" sz="2000" dirty="0">
                <a:solidFill>
                  <a:srgbClr val="2A2A24"/>
                </a:solidFill>
                <a:latin typeface="Calibri"/>
              </a:rPr>
              <a:t>●  Break down the cost components behind profit (input cost, </a:t>
            </a:r>
            <a:r>
              <a:rPr lang="en-US" sz="2000" dirty="0" err="1">
                <a:solidFill>
                  <a:srgbClr val="2A2A24"/>
                </a:solidFill>
                <a:latin typeface="Calibri"/>
              </a:rPr>
              <a:t>labour</a:t>
            </a:r>
            <a:r>
              <a:rPr lang="en-US" sz="2000" dirty="0">
                <a:solidFill>
                  <a:srgbClr val="2A2A24"/>
                </a:solidFill>
                <a:latin typeface="Calibri"/>
              </a:rPr>
              <a:t>, transport, price realization) to explain why profit is far more volatile than yield.</a:t>
            </a:r>
          </a:p>
          <a:p>
            <a:pPr>
              <a:spcAft>
                <a:spcPts val="1000"/>
              </a:spcAft>
            </a:pPr>
            <a:r>
              <a:rPr lang="en-US" sz="2000" dirty="0">
                <a:solidFill>
                  <a:srgbClr val="2A2A24"/>
                </a:solidFill>
                <a:latin typeface="Calibri"/>
              </a:rPr>
              <a:t>●  Apply non-linear or interaction-based methods to re-test fertilizer, rainfall and seed-quality effects on yield, since only linear correlation was checked here.</a:t>
            </a:r>
          </a:p>
          <a:p>
            <a:pPr>
              <a:spcAft>
                <a:spcPts val="1000"/>
              </a:spcAft>
            </a:pPr>
            <a:r>
              <a:rPr lang="en-US" sz="2000" dirty="0">
                <a:solidFill>
                  <a:srgbClr val="2A2A24"/>
                </a:solidFill>
                <a:latin typeface="Calibri"/>
              </a:rPr>
              <a:t>●  Extend the regional analysis to all states, not just the 8 with the most records.</a:t>
            </a:r>
          </a:p>
          <a:p>
            <a:pPr>
              <a:spcAft>
                <a:spcPts val="1000"/>
              </a:spcAft>
            </a:pPr>
            <a:r>
              <a:rPr lang="en-US" sz="2000" dirty="0">
                <a:solidFill>
                  <a:srgbClr val="2A2A24"/>
                </a:solidFill>
                <a:latin typeface="Calibri"/>
              </a:rPr>
              <a:t>●  Build a simple predictive model for season-level profit risk to support the recommendations already made.</a:t>
            </a:r>
          </a:p>
          <a:p>
            <a:endParaRPr lang="en-US"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B4029F0F-1862-C729-3C69-B6F310A0E356}"/>
              </a:ext>
            </a:extLst>
          </p:cNvPr>
          <p:cNvSpPr txBox="1"/>
          <p:nvPr/>
        </p:nvSpPr>
        <p:spPr>
          <a:xfrm>
            <a:off x="807396" y="3429000"/>
            <a:ext cx="9027267" cy="369332"/>
          </a:xfrm>
          <a:prstGeom prst="rect">
            <a:avLst/>
          </a:prstGeom>
          <a:noFill/>
        </p:spPr>
        <p:txBody>
          <a:bodyPr wrap="square" rtlCol="0">
            <a:spAutoFit/>
          </a:bodyPr>
          <a:lstStyle/>
          <a:p>
            <a:r>
              <a:rPr lang="en-US" dirty="0">
                <a:hlinkClick r:id="rId3"/>
              </a:rPr>
              <a:t>https://github.com/Sofia6002/Seasonal_Agriculture_Performance_Analysis</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63CD7FE5-A6FA-5542-D630-ADFFB369E738}"/>
              </a:ext>
            </a:extLst>
          </p:cNvPr>
          <p:cNvPicPr>
            <a:picLocks noChangeAspect="1"/>
          </p:cNvPicPr>
          <p:nvPr/>
        </p:nvPicPr>
        <p:blipFill>
          <a:blip r:embed="rId3"/>
          <a:stretch>
            <a:fillRect/>
          </a:stretch>
        </p:blipFill>
        <p:spPr>
          <a:xfrm>
            <a:off x="1275647" y="1427326"/>
            <a:ext cx="7605705" cy="5323994"/>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r>
              <a:rPr lang="en-IN" dirty="0"/>
              <a:t>   </a:t>
            </a:r>
          </a:p>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633</TotalTime>
  <Words>580</Words>
  <Application>Microsoft Office PowerPoint</Application>
  <PresentationFormat>Widescreen</PresentationFormat>
  <Paragraphs>50</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Admin</cp:lastModifiedBy>
  <cp:revision>98</cp:revision>
  <dcterms:created xsi:type="dcterms:W3CDTF">2021-07-11T13:13:15Z</dcterms:created>
  <dcterms:modified xsi:type="dcterms:W3CDTF">2026-09-14T18:32:51Z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